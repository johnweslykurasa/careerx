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 Title Slide
Project: CAREERX - Evidence-Grounded Career Intelligence Platform.
B.Tech Major Project Review-1, 2026-2027.
Institution: Shri Vishnu Engineering College for Women (Autonomous), Bhimavaram.
Dept. of CSE. Guide: Mr. Ch. Venkata Ramana. Batch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 Abstract
Three core research objects: Candidate Profile, Evidence, Target Job - converging into evidence-grounded career analysis.
Research aim: investigate explainable, evidence-centered connection of candidate information with job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 Literature Survey &amp; Research Gap
VERIFIED REFERENCES:
[1] Qin, C., Zhu, H., et al. (2018). Enhancing Person-Job Fit for Talent Recruitment: An Ability-aware Neural Network Approach. ACM SIGIR 2018, pp. 645-654. DOI: 10.1145/3209978.3210025
[2] Nigam, A., Tyagi, S., Tyagi, K., Saxena, A. (2021). SkillBERT: Skilling the BERT to classify skills. ICLR 2021 Workshop. OpenReview.
[3] Li, J. &amp; Wang, H. (2023). Skillbert: Pretraining contextual representations for skill extraction from job descriptions. Findings of ACL 2023. arXiv:2305.11696
[4] Lewis, P. et al. (2020). Retrieval-Augmented Generation for Knowledge-Intensive NLP Tasks. NeurIPS 2020. arXiv:2005.11401
[5] Jobscan / Teal - commercially available resume-job keyword optimization tools (2023 public product information). Cited as existing practice baseline, not peer-reviewed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 Problem Statement
The same candidate profile is not equally relevant for every job.
Key blind spots: claims without evidence, relevant projects not highlighted, skill gaps not surfaced, missing job-specific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 Research Objectives
Five research objectives derived from literature gap and problem:
RO1: Structured career + evidence model
RO2: Evidence-grounded semantic matching
RO3: Explainable gap identification
RO4: Actionable improvement guidance
RO5: Experimental 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 Tentative Proposed Solution / Methodology
Circular evidence-grounding ecosystem: Profile &gt; Evidence &gt; Job Requirements &gt; Grounding &gt; Analysis &gt; Improvement &gt; Reassessment.
AI roles distinguished: Deterministic (parsing/validation/scoring), LLM (extraction/explanations), RAG (retrieval), Agentic (only for adaptive mock interview).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 System Architecture &amp; Technologies
L1: User Interaction - resume, career profile, evidence, job description
L2: Application - React frontend, FastAPI backend, Pydantic validation
L3: Intelligence - LLM, embeddings, RAG (dense + hybrid), deterministic analysis, LangGraph for adaptive interview
L4: Persistence - MongoDB for profile, evidence, jobs, analyses, interviews
Evidence Repository: GitHub repos, document uploads, credential URLs, assessment results, project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 Expected Outcomes &amp; Research Contribution
Six expected outputs: Requirement Match, Evidence Coverage, Skill/Evidence Gaps, Resume Improvement, Learning Path, Adaptive Interview.
Research contribution: an evidence-centered framework.
Five proposed evaluation dimensions - to be validated experimentally. No numerical results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9 - Initial Plan for Two Research Articles
Article 1: Evidence-Grounded Career-Job Alignment
Article 2: Retrieval &amp; Agentic Career Intelligence
Timeline: Literature &gt; Dataset/Evaluation Design &gt; Prototype &gt; Experiments &gt; Article 1 &gt; Advanced Experiments &gt; Article 2
IMPORTANT: Topics, target venues, and schedule to be finalized with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10 - Conclusion &amp; Thank You
The research journey closes the loop from Literature through to Future Research.
Three core takeaways:
1. Connect candidate information with supporting evidence.
2. Analyze alignment with job-specific requirements.
3. Provide explainable and actionable career improvement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731520"/>
            <a:ext cx="3200400" cy="3200400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182880"/>
            <a:ext cx="1645920" cy="1645920"/>
          </a:xfrm>
          <a:prstGeom prst="ellipse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5029200"/>
            <a:ext cx="2743200" cy="2743200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82880" y="5669280"/>
            <a:ext cx="1280160" cy="1280160"/>
          </a:xfrm>
          <a:prstGeom prst="ellipse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 VISHNU ENGINEERING COLLEGE FOR WOMEN (AUTONOMOUS)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59436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914400"/>
            <a:ext cx="3931920" cy="45720"/>
          </a:xfrm>
          <a:prstGeom prst="rect">
            <a:avLst/>
          </a:prstGeom>
          <a:solidFill>
            <a:srgbClr val="00C5A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9728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CAREERX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Career Intelligence Platform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26517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evidence-centered approach for job-specific career analysis and improvement"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3246120"/>
            <a:ext cx="3931920" cy="36576"/>
          </a:xfrm>
          <a:prstGeom prst="rect">
            <a:avLst/>
          </a:prstGeom>
          <a:solidFill>
            <a:srgbClr val="00C5A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 2026-2027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- 1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NO: 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3429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8912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Ch. Venkata Ramana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39136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Dept. of CSE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3429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0" y="36576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K.A. Priya Darshini  [23B01A05A2]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38160" y="39136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Keerthana Shalini  [23B01A05D0]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38160" y="41696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Madhuri  [23B01A05A7]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4256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Veda  [23B01A0576]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38160" y="46817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Pravallika  [23B01A05B0]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54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47548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4754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66160" y="47548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754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20640" y="47548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754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75120" y="47548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754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29600" y="47548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754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784080" y="47548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0" y="4754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57150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into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06240" y="5943600"/>
            <a:ext cx="3749040" cy="502920"/>
          </a:xfrm>
          <a:prstGeom prst="rect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0" y="5943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CAREER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C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RESEARCH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400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13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information + Evidence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Projects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86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Certifications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871216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712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Skills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6400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713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1078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 Repos  Credentials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1417320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417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1901952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2386584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2386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Assessments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2871216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28712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Credentials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75320" y="6400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713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JOB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66760" y="1078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+ Requirements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58200" y="1417320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1417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58200" y="1901952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Tech Stack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58200" y="2386584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2386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Experience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58200" y="2871216"/>
            <a:ext cx="3108960" cy="347472"/>
          </a:xfrm>
          <a:prstGeom prst="rect">
            <a:avLst/>
          </a:prstGeom>
          <a:solidFill>
            <a:srgbClr val="1A3A8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28712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Soft Skills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2011680"/>
            <a:ext cx="2103120" cy="2103120"/>
          </a:xfrm>
          <a:prstGeom prst="ellipse">
            <a:avLst/>
          </a:prstGeom>
          <a:solidFill>
            <a:srgbClr val="00C5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3317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28600" y="3730752"/>
            <a:ext cx="1170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Candidate information is distributed across resumes, projects, and supporting artifacts.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8600" y="4233672"/>
            <a:ext cx="1170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Job-specific analysis requires connecting requirements with relevant candidate evidence.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28600" y="4736592"/>
            <a:ext cx="1170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CAREERX investigates an explainable approach for identifying matches, gaps, and actionable improvement paths.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" y="5349240"/>
            <a:ext cx="1170432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Aim: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783080" y="54132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investigate how candidate career information and supporting evidence can be connected with job requirements for explainable and actionable career analysis."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80960" y="64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C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" y="594360"/>
            <a:ext cx="1371600" cy="292608"/>
          </a:xfrm>
          <a:prstGeom prst="rect">
            <a:avLst/>
          </a:prstGeom>
          <a:solidFill>
            <a:srgbClr val="0D1B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" y="5943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594360"/>
            <a:ext cx="3017520" cy="292608"/>
          </a:xfrm>
          <a:prstGeom prst="rect">
            <a:avLst/>
          </a:prstGeom>
          <a:solidFill>
            <a:srgbClr val="0D1B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9616" y="59436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Approach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594360"/>
            <a:ext cx="3017520" cy="292608"/>
          </a:xfrm>
          <a:prstGeom prst="rect">
            <a:avLst/>
          </a:prstGeom>
          <a:solidFill>
            <a:srgbClr val="0D1B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59436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0" y="594360"/>
            <a:ext cx="3017520" cy="292608"/>
          </a:xfrm>
          <a:prstGeom prst="rect">
            <a:avLst/>
          </a:prstGeom>
          <a:solidFill>
            <a:srgbClr val="0D1B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34656" y="59436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Gap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" y="886968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" y="886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Qin et al.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SIGIR 2018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463040" y="886968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8869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Ability-aware neural person-job fit (APJFNN) RNN + attention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80560" y="886968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8869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 surpasses keyword-based fit scoring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98080" y="886968"/>
            <a:ext cx="3017520" cy="566928"/>
          </a:xfrm>
          <a:prstGeom prst="rect">
            <a:avLst/>
          </a:prstGeom>
          <a:solidFill>
            <a:srgbClr val="FFF8E8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8869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grounding; ignores supporting artifacts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440" y="1453896"/>
            <a:ext cx="137160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" y="14538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Nigam et al.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WS 2021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63040" y="1453896"/>
            <a:ext cx="301752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14538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SkillBERT - BERT on job requisitions for skill classification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80560" y="1453896"/>
            <a:ext cx="301752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14538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embeddings improve competency matching over Word2Vec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98080" y="1453896"/>
            <a:ext cx="3017520" cy="566928"/>
          </a:xfrm>
          <a:prstGeom prst="rect">
            <a:avLst/>
          </a:prstGeom>
          <a:solidFill>
            <a:srgbClr val="FFF1D0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14538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labels only; no candidate evidence or explainability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020824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" y="20208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Li &amp; Wang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Findings 2023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463040" y="2020824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08760" y="20208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SkillBert - contextual skill extraction pretraining for JDs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80560" y="2020824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20208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improves skill span detection in JDs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98080" y="2020824"/>
            <a:ext cx="3017520" cy="566928"/>
          </a:xfrm>
          <a:prstGeom prst="rect">
            <a:avLst/>
          </a:prstGeom>
          <a:solidFill>
            <a:srgbClr val="FFF8E8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20208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only; no candidate-side matching or feedback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1440" y="2587752"/>
            <a:ext cx="137160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25877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Lewis et al.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463040" y="2587752"/>
            <a:ext cx="301752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08760" y="25877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- Retrieval-Augmented Generation for NLP tasks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480560" y="2587752"/>
            <a:ext cx="301752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25877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+ generation reduces hallucination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98080" y="2587752"/>
            <a:ext cx="3017520" cy="566928"/>
          </a:xfrm>
          <a:prstGeom prst="rect">
            <a:avLst/>
          </a:prstGeom>
          <a:solidFill>
            <a:srgbClr val="FFF1D0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25877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General-purpose; not applied to career evidence retrieval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1440" y="3154680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3154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Jobscan / Teal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(practice)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63040" y="3154680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08760" y="31546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overlap scoring between resume and job description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480560" y="3154680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26280" y="31546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ATS keyword match rates for candidates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98080" y="3154680"/>
            <a:ext cx="3017520" cy="566928"/>
          </a:xfrm>
          <a:prstGeom prst="rect">
            <a:avLst/>
          </a:prstGeom>
          <a:solidFill>
            <a:srgbClr val="FFF8E8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31546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understanding; no evidence validation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1440" y="440740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CONVERGENCE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1440" y="4709160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Person-Job Matching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304288" y="4754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468880" y="4709160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6888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81728" y="4754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846320" y="4709160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Retrieval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059168" y="4754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223760" y="4709160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Tools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436608" y="4754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738360" y="4663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38360" y="4663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1440" y="6355080"/>
            <a:ext cx="11978640" cy="41148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635508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An opportunity remains to investigate an integrated evidence-grounded approach connecting candidate claims with supporting evidence and job requirements while maintaining explainability.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68580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0D1B4B"/>
          </a:solidFill>
          <a:ln w="19050">
            <a:solidFill>
              <a:srgbClr val="2E7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749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CANDIDATE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8056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 Projects  Skills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 Experience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0" y="263347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equally relevant for every job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" y="3090672"/>
            <a:ext cx="3108960" cy="2331720"/>
          </a:xfrm>
          <a:prstGeom prst="roundRect">
            <a:avLst>
              <a:gd name="adj" fmla="val 392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3154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3410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794760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 design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4187952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 schema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4581144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581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 architecture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4974336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974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Problem solving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0" y="3090672"/>
            <a:ext cx="3108960" cy="2331720"/>
          </a:xfrm>
          <a:prstGeom prst="roundRect">
            <a:avLst>
              <a:gd name="adj" fmla="val 392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154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410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794760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SQL + Python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17720" y="4187952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visualization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4581144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581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Statistical analysis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4974336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974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 writing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823960" y="3090672"/>
            <a:ext cx="3108960" cy="2331720"/>
          </a:xfrm>
          <a:prstGeom prst="roundRect">
            <a:avLst>
              <a:gd name="adj" fmla="val 3922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154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15400" y="3410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61120" y="3794760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068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ML models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961120" y="4187952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684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Research depth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961120" y="4581144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4581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Experiment design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961120" y="4974336"/>
            <a:ext cx="2834640" cy="320040"/>
          </a:xfrm>
          <a:prstGeom prst="rect">
            <a:avLst/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06840" y="4974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Framework usage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5596128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FFF0F0"/>
          </a:solidFill>
          <a:ln w="10160">
            <a:solidFill>
              <a:srgbClr val="D94F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" y="5596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Claim without evidence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08960" y="5596128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FFF0F0"/>
          </a:solidFill>
          <a:ln w="10160">
            <a:solidFill>
              <a:srgbClr val="D94F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0" y="5596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Project not highlighted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80760" y="5596128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FFF0F0"/>
          </a:solidFill>
          <a:ln w="10160">
            <a:solidFill>
              <a:srgbClr val="D94F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5596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Skill gap not surfaced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52560" y="5596128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FFF0F0"/>
          </a:solidFill>
          <a:ln w="10160">
            <a:solidFill>
              <a:srgbClr val="D94F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52560" y="5596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Missing job-specific context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6080760"/>
            <a:ext cx="1179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candidate career information and supporting evidence be systematically connected with job-specific requirements to produce explainable and actionable career analysis?"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685800" cy="685800"/>
          </a:xfrm>
          <a:prstGeom prst="ellipse">
            <a:avLst/>
          </a:prstGeom>
          <a:solidFill>
            <a:srgbClr val="0D1B4B"/>
          </a:solidFill>
          <a:ln w="25400">
            <a:solidFill>
              <a:srgbClr val="00C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85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9496" y="1389888"/>
            <a:ext cx="64008" cy="466344"/>
          </a:xfrm>
          <a:prstGeom prst="rect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777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&amp; Evidence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078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structured representation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candidate information + evidence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856232"/>
            <a:ext cx="685800" cy="685800"/>
          </a:xfrm>
          <a:prstGeom prst="ellipse">
            <a:avLst/>
          </a:prstGeom>
          <a:solidFill>
            <a:srgbClr val="0D1B4B"/>
          </a:solidFill>
          <a:ln w="25400">
            <a:solidFill>
              <a:srgbClr val="00C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856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RO2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39496" y="2560320"/>
            <a:ext cx="64008" cy="466344"/>
          </a:xfrm>
          <a:prstGeom prst="rect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947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Matching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2494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evidence-grounded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candidate-job alignment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026664"/>
            <a:ext cx="685800" cy="685800"/>
          </a:xfrm>
          <a:prstGeom prst="ellipse">
            <a:avLst/>
          </a:prstGeom>
          <a:solidFill>
            <a:srgbClr val="0D1B4B"/>
          </a:solidFill>
          <a:ln w="25400">
            <a:solidFill>
              <a:srgbClr val="00C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0266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39496" y="3730752"/>
            <a:ext cx="64008" cy="466344"/>
          </a:xfrm>
          <a:prstGeom prst="rect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1181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4198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explainable mechanism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match, evidence gap, skill gap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4197096"/>
            <a:ext cx="685800" cy="685800"/>
          </a:xfrm>
          <a:prstGeom prst="ellipse">
            <a:avLst/>
          </a:prstGeom>
          <a:solidFill>
            <a:srgbClr val="0D1B4B"/>
          </a:solidFill>
          <a:ln w="25400">
            <a:solidFill>
              <a:srgbClr val="00C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1970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39496" y="4901184"/>
            <a:ext cx="64008" cy="466344"/>
          </a:xfrm>
          <a:prstGeom prst="rect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2885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Guidance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590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improvement recommendations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identified gaps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5367528"/>
            <a:ext cx="685800" cy="685800"/>
          </a:xfrm>
          <a:prstGeom prst="ellipse">
            <a:avLst/>
          </a:prstGeom>
          <a:solidFill>
            <a:srgbClr val="00C5A5"/>
          </a:solidFill>
          <a:ln w="25400">
            <a:solidFill>
              <a:srgbClr val="00C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53675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51560" y="5458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Evaluation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5760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matching, retrieval,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explainability measures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94960" y="65836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100584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0D1B4B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10972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matching, skill extraction, RAG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94960" y="242316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0D1B4B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25146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32120" y="2880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integrated evidence-grounded approach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94960" y="384048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0D1B4B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39319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32120" y="4297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profile is not equally relevant for every job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00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94960" y="525780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53492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532120" y="5715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RO1 to RO2 to RO3 to RO4 to RO5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TENTATIVE PROPOSED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95360" y="64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C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709160" y="2788920"/>
            <a:ext cx="2743200" cy="1554480"/>
          </a:xfrm>
          <a:prstGeom prst="ellipse">
            <a:avLst/>
          </a:prstGeom>
          <a:solidFill>
            <a:srgbClr val="0D1B4B"/>
          </a:solidFill>
          <a:ln w="31750">
            <a:solidFill>
              <a:srgbClr val="00C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Analysis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74920" y="1024128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353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information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751520" y="2123694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2E72D2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1520" y="217855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51520" y="24528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+ Repos + Credentials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751520" y="4322826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1520" y="437769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REQ.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51520" y="465201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 requirements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74920" y="5422392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07A68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5477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5751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+ association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98320" y="4322826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2E72D2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8320" y="437769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98320" y="465201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+ Gaps + Explainability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98320" y="2123694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8320" y="217855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98320" y="24528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+ Resume + Practice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20640" y="5943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594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" y="5989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&gt; EVIDENCE &gt; MATCH &gt; GAP &gt; IMPROVE &gt; PROVE &gt; PRACTICE &gt; REASSESS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326880" y="594360"/>
            <a:ext cx="2697480" cy="598932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640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18320" y="1024128"/>
            <a:ext cx="251460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1078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0" y="13898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+ Validation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+ Rules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418320" y="2231136"/>
            <a:ext cx="2514600" cy="105156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2286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18320" y="2596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+ Explanation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suggestions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418320" y="3438144"/>
            <a:ext cx="2514600" cy="1051560"/>
          </a:xfrm>
          <a:prstGeom prst="rect">
            <a:avLst/>
          </a:prstGeom>
          <a:solidFill>
            <a:srgbClr val="2E72D2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18320" y="38039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retrieval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418320" y="4645152"/>
            <a:ext cx="2514600" cy="1051560"/>
          </a:xfrm>
          <a:prstGeom prst="rect">
            <a:avLst/>
          </a:prstGeom>
          <a:solidFill>
            <a:srgbClr val="007A68"/>
          </a:solidFill>
          <a:ln w="12700">
            <a:solidFill>
              <a:srgbClr val="007A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0" y="47000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418320" y="5010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mock interview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(state-dependent flow)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1440" y="6236208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"Agentic workflow is reserved for adaptive interview practice — each question depends on the previous response and evolving interview state."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80960" y="64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C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TECHNOLOGIES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" y="658368"/>
            <a:ext cx="8412480" cy="1234440"/>
          </a:xfrm>
          <a:prstGeom prst="rect">
            <a:avLst/>
          </a:prstGeom>
          <a:solidFill>
            <a:srgbClr val="1A3A8F"/>
          </a:solidFill>
          <a:ln w="19050">
            <a:solidFill>
              <a:srgbClr val="1A3A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594360" cy="594360"/>
          </a:xfrm>
          <a:prstGeom prst="ellipse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1832" y="7680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11338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41832" y="1380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Career Profile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41832" y="16276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Evidence Upload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77640" y="19019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" y="2002536"/>
            <a:ext cx="8412480" cy="1234440"/>
          </a:xfrm>
          <a:prstGeom prst="rect">
            <a:avLst/>
          </a:prstGeom>
          <a:solidFill>
            <a:srgbClr val="2E72D2"/>
          </a:solidFill>
          <a:ln w="19050">
            <a:solidFill>
              <a:srgbClr val="2E72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304288"/>
            <a:ext cx="594360" cy="594360"/>
          </a:xfrm>
          <a:prstGeom prst="ellipse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304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1832" y="21122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" y="2478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React (Frontend)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1832" y="27249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FastAPI (Backend)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41832" y="2971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Pydantic (Validation)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77640" y="32461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" y="3346704"/>
            <a:ext cx="8412480" cy="1234440"/>
          </a:xfrm>
          <a:prstGeom prst="rect">
            <a:avLst/>
          </a:prstGeom>
          <a:solidFill>
            <a:srgbClr val="004D40"/>
          </a:solidFill>
          <a:ln w="19050">
            <a:solidFill>
              <a:srgbClr val="007A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648456"/>
            <a:ext cx="594360" cy="594360"/>
          </a:xfrm>
          <a:prstGeom prst="ellipse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6484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1832" y="3456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1832" y="38221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LLM + Embeddings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41832" y="4069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RAG (Dense + Hybrid Retrieval)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41832" y="4315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Deterministic Analysis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77640" y="459028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" y="4690872"/>
            <a:ext cx="8412480" cy="1234440"/>
          </a:xfrm>
          <a:prstGeom prst="rect">
            <a:avLst/>
          </a:prstGeom>
          <a:solidFill>
            <a:srgbClr val="0D1B4B"/>
          </a:solidFill>
          <a:ln w="19050">
            <a:solidFill>
              <a:srgbClr val="0D1B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4992624"/>
            <a:ext cx="594360" cy="594360"/>
          </a:xfrm>
          <a:prstGeom prst="ellipse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9926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1832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" y="51663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Profile  Evidence  Jobs  Analyses  Interviews  (MongoDB)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823960" y="658368"/>
            <a:ext cx="3200400" cy="5349240"/>
          </a:xfrm>
          <a:prstGeom prst="rect">
            <a:avLst/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23960" y="777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61120" y="1508760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0" y="15087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961120" y="2304288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2304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61120" y="3099816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309981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URLs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961120" y="3895344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0" y="38953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Results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961120" y="4690872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0D1B4B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46908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Artifacts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49640" y="2377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0A1535"/>
          </a:solidFill>
          <a:ln w="12700">
            <a:solidFill>
              <a:srgbClr val="0A15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6382512"/>
            <a:ext cx="1179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modular intelligence components + MongoDB for all profile, evidence, job, analysis, and interview data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23760" y="64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C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CONTRIBUTION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480560" y="658368"/>
            <a:ext cx="3200400" cy="1234440"/>
          </a:xfrm>
          <a:prstGeom prst="ellipse">
            <a:avLst/>
          </a:prstGeom>
          <a:solidFill>
            <a:srgbClr val="0D1B4B"/>
          </a:solidFill>
          <a:ln w="25400">
            <a:solidFill>
              <a:srgbClr val="00C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914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" y="20574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121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Match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2487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Claim-to-requirement alignment score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86200" y="20574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121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2487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 identified per claim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35240" y="20574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121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/ Evidence Gaps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26680" y="2487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 and unsupported claims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37160" y="3273552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Improvement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rewrite suggestions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86200" y="3273552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to fill skill and evidence gaps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35240" y="3273552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2668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State-aware mock interview practice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7160" y="4480560"/>
            <a:ext cx="1184148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526280"/>
            <a:ext cx="1165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RESEARCH CONTRIBUTION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4773168"/>
            <a:ext cx="1165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evidence-centered framework for connecting candidate claims and supporting evidence with job-specific requirements and generating explainable career improvement guidance."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" y="5376672"/>
            <a:ext cx="11841480" cy="86868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5422392"/>
            <a:ext cx="1165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EVALUATION DIMENSIONS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5687568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56875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Quality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0" y="5687568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56875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5687568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56875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Effectiveness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23760" y="5687568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56875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555480" y="5687568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55480" y="56875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Usefulness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28600" y="6190488"/>
            <a:ext cx="1165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experimentally validated.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PLAN FOR TWO RESEARCH ARTICLES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0" y="621792"/>
            <a:ext cx="4480560" cy="749808"/>
          </a:xfrm>
          <a:prstGeom prst="roundRect">
            <a:avLst>
              <a:gd name="adj" fmla="val 9756"/>
            </a:avLst>
          </a:prstGeom>
          <a:solidFill>
            <a:srgbClr val="1A3A8F"/>
          </a:solidFill>
          <a:ln w="12700">
            <a:solidFill>
              <a:srgbClr val="2E7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658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914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+  Dataset Design  +  Research Prototype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53328" y="1371600"/>
            <a:ext cx="54864" cy="502920"/>
          </a:xfrm>
          <a:prstGeom prst="rect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8064" y="1847088"/>
            <a:ext cx="6565392" cy="54864"/>
          </a:xfrm>
          <a:prstGeom prst="rect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8064" y="1847088"/>
            <a:ext cx="54864" cy="320040"/>
          </a:xfrm>
          <a:prstGeom prst="rect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08592" y="1847088"/>
            <a:ext cx="54864" cy="320040"/>
          </a:xfrm>
          <a:prstGeom prst="rect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" y="2176272"/>
            <a:ext cx="5394960" cy="3337560"/>
          </a:xfrm>
          <a:prstGeom prst="roundRect">
            <a:avLst>
              <a:gd name="adj" fmla="val 2740"/>
            </a:avLst>
          </a:prstGeom>
          <a:solidFill>
            <a:srgbClr val="1A3A8F"/>
          </a:solidFill>
          <a:ln w="19050">
            <a:solidFill>
              <a:srgbClr val="2E72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240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249631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Evidence-Grounded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Career-Job Alignment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08760" y="31821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evidence vs Job requirements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5074920" cy="1828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31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08760" y="39319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matching + Coverage + Explainability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5074920" cy="1828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681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08760" y="4681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quality + Evidence coverage + Explanation quality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" y="5120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&lt;-&gt;  Requirements  -&gt;  Explainable Match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2176272"/>
            <a:ext cx="5394960" cy="3337560"/>
          </a:xfrm>
          <a:prstGeom prst="roundRect">
            <a:avLst>
              <a:gd name="adj" fmla="val 2740"/>
            </a:avLst>
          </a:prstGeom>
          <a:solidFill>
            <a:srgbClr val="0D1B4B"/>
          </a:solidFill>
          <a:ln w="19050">
            <a:solidFill>
              <a:srgbClr val="2E72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240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49631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&amp; Agentic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Intelligence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01000" y="31821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Adaptive AI workflows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12280" y="3456432"/>
            <a:ext cx="5074920" cy="1828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931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01000" y="39319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vs hybrid retrieval + Interview workflow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12280" y="4206240"/>
            <a:ext cx="5074920" cy="1828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4681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4681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+ MRR + Latency + Workflow effectiveness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6560" y="512064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1A3A8F"/>
          </a:solidFill>
          <a:ln w="10160">
            <a:solidFill>
              <a:srgbClr val="2E72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5120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028432" y="512064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1A3A8F"/>
          </a:solidFill>
          <a:ln w="10160">
            <a:solidFill>
              <a:srgbClr val="2E72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5120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290304" y="512064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1A3A8F"/>
          </a:solidFill>
          <a:ln w="10160">
            <a:solidFill>
              <a:srgbClr val="2E72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0304" y="5120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552176" y="512064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1A3A8F"/>
          </a:solidFill>
          <a:ln w="10160">
            <a:solidFill>
              <a:srgbClr val="2E72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52176" y="5120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Eff.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37160" y="580644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 w="10160">
            <a:solidFill>
              <a:srgbClr val="2E72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" y="58064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728216" y="5897880"/>
            <a:ext cx="100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0" y="580644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 w="10160">
            <a:solidFill>
              <a:srgbClr val="2E72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0" y="58064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Design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419856" y="5897880"/>
            <a:ext cx="100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20440" y="580644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 w="10160">
            <a:solidFill>
              <a:srgbClr val="2E72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58064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11496" y="5897880"/>
            <a:ext cx="100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2080" y="580644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 w="10160">
            <a:solidFill>
              <a:srgbClr val="2E72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0" y="58064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03136" y="5897880"/>
            <a:ext cx="100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03720" y="580644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00C5A5"/>
          </a:solidFill>
          <a:ln w="10160">
            <a:solidFill>
              <a:srgbClr val="00C5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03720" y="58064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494776" y="5897880"/>
            <a:ext cx="100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95360" y="580644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00C5A5"/>
          </a:solidFill>
          <a:ln w="10160">
            <a:solidFill>
              <a:srgbClr val="00C5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95360" y="58064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 Exps.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186416" y="5897880"/>
            <a:ext cx="100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287000" y="580644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00C5A5"/>
          </a:solidFill>
          <a:ln w="10160">
            <a:solidFill>
              <a:srgbClr val="00C5A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87000" y="58064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37160" y="6492240"/>
            <a:ext cx="1184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"Final research topics, target venues and publication schedule will be finalized in consultation with the research supervisor."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114800"/>
            <a:ext cx="4114800" cy="4114800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4754880"/>
            <a:ext cx="2286000" cy="2286000"/>
          </a:xfrm>
          <a:prstGeom prst="ellipse">
            <a:avLst/>
          </a:prstGeom>
          <a:solidFill>
            <a:srgbClr val="00C5A5"/>
          </a:solidFill>
          <a:ln w="12700">
            <a:solidFill>
              <a:srgbClr val="00C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94760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JOURNEY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A3A8F"/>
          </a:solidFill>
          <a:ln w="19050">
            <a:solidFill>
              <a:srgbClr val="2E72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+ analysis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84448" y="1463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80560" y="9144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A3A8F"/>
          </a:solidFill>
          <a:ln w="19050">
            <a:solidFill>
              <a:srgbClr val="2E72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051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evidence-grounding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07808" y="1463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9144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A3A8F"/>
          </a:solidFill>
          <a:ln w="19050">
            <a:solidFill>
              <a:srgbClr val="2E72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051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methodology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966960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03920" y="27432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A3A8F"/>
          </a:solidFill>
          <a:ln w="19050">
            <a:solidFill>
              <a:srgbClr val="2E72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852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34381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+ Retrieval + Explainability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92440" y="32918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480560" y="27432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00C5A5"/>
          </a:solidFill>
          <a:ln w="19050">
            <a:solidFill>
              <a:srgbClr val="00C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852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34381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Evidence-centered career framework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69080" y="32918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" y="27432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A3A8F"/>
          </a:solidFill>
          <a:ln w="19050">
            <a:solidFill>
              <a:srgbClr val="2E72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52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4381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evaluation + publications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46304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74320" y="4343400"/>
            <a:ext cx="11612880" cy="38404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434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Connect candidate career information with supporting evidence.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4800600"/>
            <a:ext cx="1161288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006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Analyze alignment with job-specific requirements.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5257800"/>
            <a:ext cx="11612880" cy="38404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2578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Provide explainable and actionable career improvement guidance.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74320" y="5806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2743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C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72400" y="6355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 Vishnu Engineering College for Women (Autonomous) | Bhimavaram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66019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Major Project | Review 1 | 2026-2027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2026-08-27T13:48:15Z</dcterms:created>
  <dcterms:modified xsi:type="dcterms:W3CDTF">2026-08-27T13:48:15Z</dcterms:modified>
</cp:coreProperties>
</file>